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B2430"/>
                </a:solidFill>
              </a:rPr>
              <a:t>Accuracy (%) by validation protocol (n = 178 flakes)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FTIR (deployed augmented SVM)</c:v>
                </c:pt>
              </c:strCache>
            </c:strRef>
          </c:tx>
          <c:spPr>
            <a:solidFill>
              <a:srgbClr val="16324F"/>
            </a:solidFill>
          </c:spPr>
          <c:dLbls>
            <c:numFmt formatCode="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Repeated CV</c:v>
                </c:pt>
                <c:pt idx="1">
                  <c:v>Hold-out</c:v>
                </c:pt>
                <c:pt idx="2">
                  <c:v>Leave-one-
source-out</c:v>
                </c:pt>
                <c:pt idx="3">
                  <c:v>Train Impact →
test Circular 11</c:v>
                </c:pt>
                <c:pt idx="4">
                  <c:v>Train Circular 11 →
test Impact</c:v>
                </c:pt>
                <c:pt idx="5">
                  <c:v>Train non-black →
test black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99.4</c:v>
                </c:pt>
                <c:pt idx="1">
                  <c:v>100.0</c:v>
                </c:pt>
                <c:pt idx="2">
                  <c:v>99.4</c:v>
                </c:pt>
                <c:pt idx="3">
                  <c:v>98.3</c:v>
                </c:pt>
                <c:pt idx="4">
                  <c:v>100.0</c:v>
                </c:pt>
                <c:pt idx="5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Colour L*a*b* only (random forest)</c:v>
                </c:pt>
              </c:strCache>
            </c:strRef>
          </c:tx>
          <c:spPr>
            <a:solidFill>
              <a:srgbClr val="B0A08A"/>
            </a:solidFill>
          </c:spPr>
          <c:dLbls>
            <c:numFmt formatCode="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Repeated CV</c:v>
                </c:pt>
                <c:pt idx="1">
                  <c:v>Hold-out</c:v>
                </c:pt>
                <c:pt idx="2">
                  <c:v>Leave-one-
source-out</c:v>
                </c:pt>
                <c:pt idx="3">
                  <c:v>Train Impact →
test Circular 11</c:v>
                </c:pt>
                <c:pt idx="4">
                  <c:v>Train Circular 11 →
test Impact</c:v>
                </c:pt>
                <c:pt idx="5">
                  <c:v>Train non-black →
test black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74.6</c:v>
                </c:pt>
                <c:pt idx="1">
                  <c:v>64.4</c:v>
                </c:pt>
                <c:pt idx="2">
                  <c:v>73.0</c:v>
                </c:pt>
                <c:pt idx="3">
                  <c:v>43.1</c:v>
                </c:pt>
                <c:pt idx="4">
                  <c:v>42.5</c:v>
                </c:pt>
                <c:pt idx="5">
                  <c:v>22.7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FTIR + colour (late fusion)</c:v>
                </c:pt>
              </c:strCache>
            </c:strRef>
          </c:tx>
          <c:spPr>
            <a:solidFill>
              <a:srgbClr val="2A9D8F"/>
            </a:solidFill>
          </c:spPr>
          <c:dLbls>
            <c:numFmt formatCode="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Repeated CV</c:v>
                </c:pt>
                <c:pt idx="1">
                  <c:v>Hold-out</c:v>
                </c:pt>
                <c:pt idx="2">
                  <c:v>Leave-one-
source-out</c:v>
                </c:pt>
                <c:pt idx="3">
                  <c:v>Train Impact →
test Circular 11</c:v>
                </c:pt>
                <c:pt idx="4">
                  <c:v>Train Circular 11 →
test Impact</c:v>
                </c:pt>
                <c:pt idx="5">
                  <c:v>Train non-black →
test black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99.0</c:v>
                </c:pt>
                <c:pt idx="1">
                  <c:v>95.6</c:v>
                </c:pt>
                <c:pt idx="2">
                  <c:v>99.4</c:v>
                </c:pt>
                <c:pt idx="3">
                  <c:v>98.3</c:v>
                </c:pt>
                <c:pt idx="4">
                  <c:v>99.2</c:v>
                </c:pt>
                <c:pt idx="5">
                  <c:v>100.0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5CCD8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Task: classify plastic flakes as PP or PE from ATR-FTIR, test whether colorimeter data helps (especially on black polymers), and deliver a real-time web service. 178 verified flakes, 9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in every protocol the flakes being scored were not used to train the model that scores them; the protocols differ only in how flakes are split. In 5-fold CV a new model is trained each round on ~142 flakes and tested on the other ~36, so every flake is tested exactly once. Panel A: 178 PE/PP flakes from 5 Impact plates and 4 Circular-11 batches. All 5 black PP are Impact; all 17 black PE are Circular 11 - a source confound. Protocols: repeated stratified 5-fold CV x5; fixed 133/45 hold-out; leave-one-source-out (9 folds); shift tests (Impact&lt;-&gt;Circular 11, non-black -&gt; black).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Preprocessing was chosen by an ablation of 5 regions x 7 chains: every configuration is within 98.9-99.7 %, so the choice is about robustness. Augmentation makes the RBF-SVM invariant to calibration shift (otherwise 11 % at 8 cm-1) and to noise/blur. Calibration and tuning use GroupKFold with groups = original flake so augmented copies never leak.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models consume the same preprocessed spectrum (600-1,800 and 2,700-3,100 cm-1, SG 1st derivative, SNV); deep nets use every 2nd point (829 points). Parameter counts and latencies from results/tables/exp9_latency.csv; the SVM hyper-parameters are read from the deployed bundle. Accuracy is identical across these models (slide on backbones), so the choice is about robustness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summary: the design (preprocess fitted on train, grouped CV, tune on train only, bundle everything in one joblib, model zoo + grid search) comes from reading Aru's repo; the implementation is new. His pad_or_chop would silently zero-pad a mismatched spectrum, which is why we resample onto the fixed grid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FTIR: deployed augmented RBF-SVM. Colour-only: random forest on L*, a*, b*, chroma. Fusion: logistic regression on spectrum + L*a*b* stacked. A predictor that only knows the source scores 75.3 %, the level colour reaches. Within the 22 black flakes colour alone gets 83-90 %, but that is the same confound. A fair test of colour needs black PP and black PE from the same batches.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Hold-out is 45 flakes, so one flake = 2.2 points; LightGBM 95.6 % = 2 errors. Wilson 95 % CI for the deployed model hold-out 45/45: 92.1-100 %. Not shown: PCA-LDA, kNN, linear SVM, RF, XGBoost, MLP (all in results/tables/benchmark_all_models.csv).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are trained on clean spectra and the held-out fold's spectra are degraded (CV, n=178). Measured detector noise sigma=1.9e-4 A vs peak 0.32 A. Un-augmented ensembles were also worse; ensembles of augmented members match the single augmented SVM but are 2.8x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was measured from the raw 6,845-point vector to the probability (median of 200 calls, one thread). The reference range for FTIR acquisition is a general order of magnitude, not a measurement from your instrument. Ask for the target throughput (flakes per second) and the scan settings to give a definite yes/no.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Latency: median 1.33 ms, p95 1.44 ms (deployed model). Reading a text .dpt costs about 11 ms, native OPUS about 1.4 ms; a whole API call is about 10 ms. Minimal-spectrum and learning-curve results reflect how easy the clean two-class problem is, so treat them as feasibility indications for a cheaper sensor, not as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 (1) independent ground truth for the 'mixed' flakes and a sample of the rest; (2) collect hard cases - black/dark, filled, blends, other polymers, a second instrument; (3) add a reject class; (4) keep FTIR-only until colour is shown to help on batch-balanced black data; (5) auth/HTTPS and instrument integration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737360"/>
            <a:ext cx="5943600" cy="2286000"/>
          </a:xfrm>
        </p:spPr>
        <p:txBody>
          <a:bodyPr wrap="square" anchor="t"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</a:rPr>
              <a:t>PP vs PE flake identification from FTIR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206240"/>
            <a:ext cx="5852160" cy="914400"/>
          </a:xfrm>
        </p:spPr>
        <p:txBody>
          <a:bodyPr wrap="square" lIns="0" rIns="0" tIns="0" bIns="0"/>
          <a:lstStyle/>
          <a:p>
            <a:pPr algn="l"/>
            <a:r>
              <a:rPr sz="2000">
                <a:solidFill>
                  <a:srgbClr val="CBD5E1"/>
                </a:solidFill>
              </a:rPr>
              <a:t>Validation study, deployed model and web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Polyflow work package · results summary · 2 October 2026</a:t>
            </a:r>
          </a:p>
        </p:txBody>
      </p:sp>
      <p:pic>
        <p:nvPicPr>
          <p:cNvPr id="5" name="mean PE and PP spectra" descr="fig_title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846320" cy="2574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448056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Mean ATR-FTIR spectra of the 98 PE and 80 PP flakes: the two polymers differ in a handful of well-known bands.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Every test flake is unseen in training: the four protocols differ only in how we split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2</a:t>
            </a:r>
          </a:p>
        </p:txBody>
      </p:sp>
      <p:pic>
        <p:nvPicPr>
          <p:cNvPr id="5" name="dataset and split schematic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98448"/>
            <a:ext cx="10058400" cy="4007005"/>
          </a:xfrm>
          <a:prstGeom prst="rect">
            <a:avLst/>
          </a:prstGeom>
        </p:spPr>
      </p:pic>
      <p:sp>
        <p:nvSpPr>
          <p:cNvPr id="6" name="takeaway 1 title"/>
          <p:cNvSpPr txBox="1"/>
          <p:nvPr/>
        </p:nvSpPr>
        <p:spPr>
          <a:xfrm>
            <a:off x="548640" y="5440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Test flakes are always unseen</a:t>
            </a:r>
          </a:p>
        </p:txBody>
      </p:sp>
      <p:sp>
        <p:nvSpPr>
          <p:cNvPr id="7" name="takeaway 1 text"/>
          <p:cNvSpPr txBox="1"/>
          <p:nvPr/>
        </p:nvSpPr>
        <p:spPr>
          <a:xfrm>
            <a:off x="548640" y="5733288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B, C: unseen flakes. D, E: unseen flakes from an unseen batch, the harder test.</a:t>
            </a:r>
          </a:p>
        </p:txBody>
      </p:sp>
      <p:sp>
        <p:nvSpPr>
          <p:cNvPr id="8" name="takeaway 2 title"/>
          <p:cNvSpPr txBox="1"/>
          <p:nvPr/>
        </p:nvSpPr>
        <p:spPr>
          <a:xfrm>
            <a:off x="4297679" y="5440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No leakage</a:t>
            </a:r>
          </a:p>
        </p:txBody>
      </p:sp>
      <p:sp>
        <p:nvSpPr>
          <p:cNvPr id="9" name="takeaway 2 text"/>
          <p:cNvSpPr txBox="1"/>
          <p:nvPr/>
        </p:nvSpPr>
        <p:spPr>
          <a:xfrm>
            <a:off x="4297679" y="5733288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One spectrum per flake; stratified splits; tuning and calibration only inside the training part.</a:t>
            </a:r>
          </a:p>
        </p:txBody>
      </p:sp>
      <p:sp>
        <p:nvSpPr>
          <p:cNvPr id="10" name="takeaway 3 title"/>
          <p:cNvSpPr txBox="1"/>
          <p:nvPr/>
        </p:nvSpPr>
        <p:spPr>
          <a:xfrm>
            <a:off x="8046719" y="5440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Labels = verified last column</a:t>
            </a:r>
          </a:p>
        </p:txBody>
      </p:sp>
      <p:sp>
        <p:nvSpPr>
          <p:cNvPr id="11" name="takeaway 3 text"/>
          <p:cNvSpPr txBox="1"/>
          <p:nvPr/>
        </p:nvSpPr>
        <p:spPr>
          <a:xfrm>
            <a:off x="8046719" y="5733288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Folder names are unreliable (‘Float PE’ is 16/24 PP). 8 ambiguous flakes and 1 without spectrum are excluded.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One preprocessing chain, trained on degraded copies and calibrated: a single 3.4 MB model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3</a:t>
            </a:r>
          </a:p>
        </p:txBody>
      </p:sp>
      <p:sp>
        <p:nvSpPr>
          <p:cNvPr id="5" name="step 1 box"/>
          <p:cNvSpPr/>
          <p:nvPr/>
        </p:nvSpPr>
        <p:spPr>
          <a:xfrm>
            <a:off x="548640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ep 1 badge"/>
          <p:cNvSpPr/>
          <p:nvPr/>
        </p:nvSpPr>
        <p:spPr>
          <a:xfrm>
            <a:off x="676656" y="2871216"/>
            <a:ext cx="310896" cy="310896"/>
          </a:xfrm>
          <a:prstGeom prst="ellipse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ep 1 number"/>
          <p:cNvSpPr txBox="1"/>
          <p:nvPr/>
        </p:nvSpPr>
        <p:spPr>
          <a:xfrm>
            <a:off x="676656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step 1 title"/>
          <p:cNvSpPr txBox="1"/>
          <p:nvPr/>
        </p:nvSpPr>
        <p:spPr>
          <a:xfrm>
            <a:off x="676656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Raw data</a:t>
            </a:r>
          </a:p>
        </p:txBody>
      </p:sp>
      <p:sp>
        <p:nvSpPr>
          <p:cNvPr id="9" name="step 1 text"/>
          <p:cNvSpPr txBox="1"/>
          <p:nvPr/>
        </p:nvSpPr>
        <p:spPr>
          <a:xfrm>
            <a:off x="676656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OPUS .0 / .dpt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6,845 points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399–6,999 cm⁻¹</a:t>
            </a:r>
          </a:p>
        </p:txBody>
      </p:sp>
      <p:sp>
        <p:nvSpPr>
          <p:cNvPr id="10" name="arrow 1"/>
          <p:cNvSpPr/>
          <p:nvPr/>
        </p:nvSpPr>
        <p:spPr>
          <a:xfrm>
            <a:off x="2212848" y="3479291"/>
            <a:ext cx="201167" cy="219456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ep 2 box"/>
          <p:cNvSpPr/>
          <p:nvPr/>
        </p:nvSpPr>
        <p:spPr>
          <a:xfrm>
            <a:off x="2450592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ep 2 badge"/>
          <p:cNvSpPr/>
          <p:nvPr/>
        </p:nvSpPr>
        <p:spPr>
          <a:xfrm>
            <a:off x="2578608" y="2871216"/>
            <a:ext cx="310896" cy="310896"/>
          </a:xfrm>
          <a:prstGeom prst="ellipse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 2 number"/>
          <p:cNvSpPr txBox="1"/>
          <p:nvPr/>
        </p:nvSpPr>
        <p:spPr>
          <a:xfrm>
            <a:off x="2578608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step 2 title"/>
          <p:cNvSpPr txBox="1"/>
          <p:nvPr/>
        </p:nvSpPr>
        <p:spPr>
          <a:xfrm>
            <a:off x="2578608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Crop</a:t>
            </a:r>
          </a:p>
        </p:txBody>
      </p:sp>
      <p:sp>
        <p:nvSpPr>
          <p:cNvPr id="15" name="step 2 text"/>
          <p:cNvSpPr txBox="1"/>
          <p:nvPr/>
        </p:nvSpPr>
        <p:spPr>
          <a:xfrm>
            <a:off x="2578608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600–1,800 and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2,700–3,100 cm⁻¹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→ 1,658 points</a:t>
            </a:r>
          </a:p>
        </p:txBody>
      </p:sp>
      <p:sp>
        <p:nvSpPr>
          <p:cNvPr id="16" name="arrow 2"/>
          <p:cNvSpPr/>
          <p:nvPr/>
        </p:nvSpPr>
        <p:spPr>
          <a:xfrm>
            <a:off x="4114800" y="3479291"/>
            <a:ext cx="201167" cy="219456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ep 3 box"/>
          <p:cNvSpPr/>
          <p:nvPr/>
        </p:nvSpPr>
        <p:spPr>
          <a:xfrm>
            <a:off x="4352544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ep 3 badge"/>
          <p:cNvSpPr/>
          <p:nvPr/>
        </p:nvSpPr>
        <p:spPr>
          <a:xfrm>
            <a:off x="4480559" y="2871216"/>
            <a:ext cx="310896" cy="310896"/>
          </a:xfrm>
          <a:prstGeom prst="ellipse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 3 number"/>
          <p:cNvSpPr txBox="1"/>
          <p:nvPr/>
        </p:nvSpPr>
        <p:spPr>
          <a:xfrm>
            <a:off x="4480559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step 3 title"/>
          <p:cNvSpPr txBox="1"/>
          <p:nvPr/>
        </p:nvSpPr>
        <p:spPr>
          <a:xfrm>
            <a:off x="4480559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Derivative</a:t>
            </a:r>
          </a:p>
        </p:txBody>
      </p:sp>
      <p:sp>
        <p:nvSpPr>
          <p:cNvPr id="21" name="step 3 text"/>
          <p:cNvSpPr txBox="1"/>
          <p:nvPr/>
        </p:nvSpPr>
        <p:spPr>
          <a:xfrm>
            <a:off x="4480559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Savitzky–Golay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1st derivative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(window 11)</a:t>
            </a:r>
          </a:p>
        </p:txBody>
      </p:sp>
      <p:sp>
        <p:nvSpPr>
          <p:cNvPr id="22" name="arrow 3"/>
          <p:cNvSpPr/>
          <p:nvPr/>
        </p:nvSpPr>
        <p:spPr>
          <a:xfrm>
            <a:off x="6016752" y="3479291"/>
            <a:ext cx="201167" cy="219456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ep 4 box"/>
          <p:cNvSpPr/>
          <p:nvPr/>
        </p:nvSpPr>
        <p:spPr>
          <a:xfrm>
            <a:off x="6254496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ep 4 badge"/>
          <p:cNvSpPr/>
          <p:nvPr/>
        </p:nvSpPr>
        <p:spPr>
          <a:xfrm>
            <a:off x="6382512" y="2871216"/>
            <a:ext cx="310896" cy="310896"/>
          </a:xfrm>
          <a:prstGeom prst="ellipse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 4 number"/>
          <p:cNvSpPr txBox="1"/>
          <p:nvPr/>
        </p:nvSpPr>
        <p:spPr>
          <a:xfrm>
            <a:off x="6382512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step 4 title"/>
          <p:cNvSpPr txBox="1"/>
          <p:nvPr/>
        </p:nvSpPr>
        <p:spPr>
          <a:xfrm>
            <a:off x="6382512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Normalise</a:t>
            </a:r>
          </a:p>
        </p:txBody>
      </p:sp>
      <p:sp>
        <p:nvSpPr>
          <p:cNvPr id="27" name="step 4 text"/>
          <p:cNvSpPr txBox="1"/>
          <p:nvPr/>
        </p:nvSpPr>
        <p:spPr>
          <a:xfrm>
            <a:off x="6382512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SNV per spectrum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(gain and baseline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offset removed)</a:t>
            </a:r>
          </a:p>
        </p:txBody>
      </p:sp>
      <p:sp>
        <p:nvSpPr>
          <p:cNvPr id="28" name="arrow 4"/>
          <p:cNvSpPr/>
          <p:nvPr/>
        </p:nvSpPr>
        <p:spPr>
          <a:xfrm>
            <a:off x="7918703" y="3479291"/>
            <a:ext cx="201167" cy="219456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ep 5 box"/>
          <p:cNvSpPr/>
          <p:nvPr/>
        </p:nvSpPr>
        <p:spPr>
          <a:xfrm>
            <a:off x="8156448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ep 5 badge"/>
          <p:cNvSpPr/>
          <p:nvPr/>
        </p:nvSpPr>
        <p:spPr>
          <a:xfrm>
            <a:off x="8284464" y="2871216"/>
            <a:ext cx="310896" cy="310896"/>
          </a:xfrm>
          <a:prstGeom prst="ellipse">
            <a:avLst/>
          </a:prstGeom>
          <a:solidFill>
            <a:srgbClr val="D9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ep 5 number"/>
          <p:cNvSpPr txBox="1"/>
          <p:nvPr/>
        </p:nvSpPr>
        <p:spPr>
          <a:xfrm>
            <a:off x="8284464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step 5 title"/>
          <p:cNvSpPr txBox="1"/>
          <p:nvPr/>
        </p:nvSpPr>
        <p:spPr>
          <a:xfrm>
            <a:off x="8284464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RBF-SVM</a:t>
            </a:r>
          </a:p>
        </p:txBody>
      </p:sp>
      <p:sp>
        <p:nvSpPr>
          <p:cNvPr id="33" name="step 5 text"/>
          <p:cNvSpPr txBox="1"/>
          <p:nvPr/>
        </p:nvSpPr>
        <p:spPr>
          <a:xfrm>
            <a:off x="8284464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A"/>
                </a:solidFill>
                <a:latin typeface="Calibri"/>
              </a:rPr>
              <a:t>C, γ by grouped CV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A"/>
                </a:solidFill>
                <a:latin typeface="Calibri"/>
              </a:rPr>
              <a:t>on training data</a:t>
            </a:r>
          </a:p>
        </p:txBody>
      </p:sp>
      <p:sp>
        <p:nvSpPr>
          <p:cNvPr id="34" name="arrow 5"/>
          <p:cNvSpPr/>
          <p:nvPr/>
        </p:nvSpPr>
        <p:spPr>
          <a:xfrm>
            <a:off x="9820655" y="3479291"/>
            <a:ext cx="201167" cy="219456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step 6 box"/>
          <p:cNvSpPr/>
          <p:nvPr/>
        </p:nvSpPr>
        <p:spPr>
          <a:xfrm>
            <a:off x="10058400" y="2743200"/>
            <a:ext cx="1627632" cy="169164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ep 6 badge"/>
          <p:cNvSpPr/>
          <p:nvPr/>
        </p:nvSpPr>
        <p:spPr>
          <a:xfrm>
            <a:off x="10186416" y="2871216"/>
            <a:ext cx="310896" cy="310896"/>
          </a:xfrm>
          <a:prstGeom prst="ellipse">
            <a:avLst/>
          </a:prstGeom>
          <a:solidFill>
            <a:srgbClr val="D9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ep 6 number"/>
          <p:cNvSpPr txBox="1"/>
          <p:nvPr/>
        </p:nvSpPr>
        <p:spPr>
          <a:xfrm>
            <a:off x="10186416" y="2871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step 6 title"/>
          <p:cNvSpPr txBox="1"/>
          <p:nvPr/>
        </p:nvSpPr>
        <p:spPr>
          <a:xfrm>
            <a:off x="10186416" y="329184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Calibrate</a:t>
            </a:r>
          </a:p>
        </p:txBody>
      </p:sp>
      <p:sp>
        <p:nvSpPr>
          <p:cNvPr id="39" name="step 6 text"/>
          <p:cNvSpPr txBox="1"/>
          <p:nvPr/>
        </p:nvSpPr>
        <p:spPr>
          <a:xfrm>
            <a:off x="10186416" y="3639312"/>
            <a:ext cx="14081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A"/>
                </a:solidFill>
                <a:latin typeface="Calibri"/>
              </a:rPr>
              <a:t>Platt scaling 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A"/>
                </a:solidFill>
                <a:latin typeface="Calibri"/>
              </a:rPr>
              <a:t>out-of-fold scores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A"/>
                </a:solidFill>
                <a:latin typeface="Calibri"/>
              </a:rPr>
              <a:t>→ P(PP)</a:t>
            </a:r>
          </a:p>
        </p:txBody>
      </p:sp>
      <p:sp>
        <p:nvSpPr>
          <p:cNvPr id="40" name="augmentation box"/>
          <p:cNvSpPr/>
          <p:nvPr/>
        </p:nvSpPr>
        <p:spPr>
          <a:xfrm>
            <a:off x="4352544" y="1371600"/>
            <a:ext cx="7333488" cy="96012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augmentation title"/>
          <p:cNvSpPr txBox="1"/>
          <p:nvPr/>
        </p:nvSpPr>
        <p:spPr>
          <a:xfrm>
            <a:off x="4535424" y="1463040"/>
            <a:ext cx="6967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8470A"/>
                </a:solidFill>
                <a:latin typeface="Calibri"/>
              </a:rPr>
              <a:t>TRAINING ONLY · 6 degraded copies per flake</a:t>
            </a:r>
          </a:p>
        </p:txBody>
      </p:sp>
      <p:sp>
        <p:nvSpPr>
          <p:cNvPr id="42" name="augmentation text"/>
          <p:cNvSpPr txBox="1"/>
          <p:nvPr/>
        </p:nvSpPr>
        <p:spPr>
          <a:xfrm>
            <a:off x="4535424" y="1755648"/>
            <a:ext cx="69677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3A0C"/>
                </a:solidFill>
                <a:latin typeface="Calibri"/>
              </a:rPr>
              <a:t>noise ≤ 4 % · blur ≤ 10 cm⁻¹ · gain 0.3–1.3× · baseline tilt · ±8 cm⁻¹ shift. Copies of one flake always stay in the same CV group.</a:t>
            </a:r>
          </a:p>
        </p:txBody>
      </p:sp>
      <p:sp>
        <p:nvSpPr>
          <p:cNvPr id="43" name="augmentation arrow"/>
          <p:cNvSpPr/>
          <p:nvPr/>
        </p:nvSpPr>
        <p:spPr>
          <a:xfrm>
            <a:off x="8851392" y="2377440"/>
            <a:ext cx="237744" cy="329184"/>
          </a:xfrm>
          <a:prstGeom prst="downArrow">
            <a:avLst/>
          </a:prstGeom>
          <a:solidFill>
            <a:srgbClr val="D9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QC box"/>
          <p:cNvSpPr/>
          <p:nvPr/>
        </p:nvSpPr>
        <p:spPr>
          <a:xfrm>
            <a:off x="548640" y="4709160"/>
            <a:ext cx="5431536" cy="1234440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QC title"/>
          <p:cNvSpPr txBox="1"/>
          <p:nvPr/>
        </p:nvSpPr>
        <p:spPr>
          <a:xfrm>
            <a:off x="731520" y="4791456"/>
            <a:ext cx="506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6F66"/>
                </a:solidFill>
                <a:latin typeface="Calibri"/>
              </a:rPr>
              <a:t>AT INFERENCE · quality and novelty checks</a:t>
            </a:r>
          </a:p>
        </p:txBody>
      </p:sp>
      <p:sp>
        <p:nvSpPr>
          <p:cNvPr id="46" name="QC text"/>
          <p:cNvSpPr txBox="1"/>
          <p:nvPr/>
        </p:nvSpPr>
        <p:spPr>
          <a:xfrm>
            <a:off x="731520" y="5084064"/>
            <a:ext cx="506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534C"/>
                </a:solidFill>
                <a:latin typeface="Calibri"/>
              </a:rPr>
              <a:t>PCA reconstruction error flags spectra unlike PE/PP (e.g. Bopp shred) → ‘unreliable’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534C"/>
                </a:solidFill>
                <a:latin typeface="Calibri"/>
              </a:rPr>
              <a:t>Weak C–H signal, missing range, coarse sampling or mixed PE+PP signature → ‘review’</a:t>
            </a:r>
          </a:p>
        </p:txBody>
      </p:sp>
      <p:sp>
        <p:nvSpPr>
          <p:cNvPr id="47" name="output box"/>
          <p:cNvSpPr/>
          <p:nvPr/>
        </p:nvSpPr>
        <p:spPr>
          <a:xfrm>
            <a:off x="6254496" y="4709160"/>
            <a:ext cx="5431536" cy="123444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utput label"/>
          <p:cNvSpPr txBox="1"/>
          <p:nvPr/>
        </p:nvSpPr>
        <p:spPr>
          <a:xfrm>
            <a:off x="6483096" y="4791456"/>
            <a:ext cx="4974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49" name="output text"/>
          <p:cNvSpPr txBox="1"/>
          <p:nvPr/>
        </p:nvSpPr>
        <p:spPr>
          <a:xfrm>
            <a:off x="6483096" y="5084064"/>
            <a:ext cx="49743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PE or PP + probability + status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9B4C6"/>
                </a:solidFill>
                <a:latin typeface="Calibri"/>
              </a:rPr>
              <a:t>1.3 ms per spectrum · web UI and CSV export</a:t>
            </a:r>
          </a:p>
        </p:txBody>
      </p:sp>
      <p:sp>
        <p:nvSpPr>
          <p:cNvPr id="50" name="benchmarked models"/>
          <p:cNvSpPr txBox="1"/>
          <p:nvPr/>
        </p:nvSpPr>
        <p:spPr>
          <a:xfrm>
            <a:off x="548640" y="60533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430"/>
                </a:solidFill>
                <a:latin typeface="Calibri"/>
              </a:rPr>
              <a:t>Benchmarked on the same chain: </a:t>
            </a:r>
            <a:r>
              <a:rPr sz="1200" b="0" i="0">
                <a:solidFill>
                  <a:srgbClr val="4A5568"/>
                </a:solidFill>
                <a:latin typeface="Calibri"/>
              </a:rPr>
              <a:t>logistic regression, PLS-DA, linear/RBF SVM, PCA-LDA, kNN, random forest, ExtraTrees, XGBoost, LightGBM, MLP, 1-D CNN, ResNet-1D, Transformer; colour-only and FTIR + colour fusion.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The selected model is a small kernel SVM; the deep backbones we compared are tiny too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4</a:t>
            </a:r>
          </a:p>
        </p:txBody>
      </p:sp>
      <p:sp>
        <p:nvSpPr>
          <p:cNvPr id="5" name="Augmented RBF-SVM label box"/>
          <p:cNvSpPr/>
          <p:nvPr/>
        </p:nvSpPr>
        <p:spPr>
          <a:xfrm>
            <a:off x="548640" y="1325880"/>
            <a:ext cx="2194560" cy="73152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Augmented RBF-SVM label"/>
          <p:cNvSpPr txBox="1"/>
          <p:nvPr/>
        </p:nvSpPr>
        <p:spPr>
          <a:xfrm>
            <a:off x="658368" y="13898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Augmented RBF-SVM</a:t>
            </a:r>
          </a:p>
        </p:txBody>
      </p:sp>
      <p:sp>
        <p:nvSpPr>
          <p:cNvPr id="7" name="Augmented RBF-SVM stats"/>
          <p:cNvSpPr txBox="1"/>
          <p:nvPr/>
        </p:nvSpPr>
        <p:spPr>
          <a:xfrm>
            <a:off x="658368" y="1691640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5E6"/>
                </a:solidFill>
                <a:latin typeface="Calibri"/>
              </a:rPr>
              <a:t>DEPLOYED · 1.3 ms · 3.4 MB</a:t>
            </a:r>
          </a:p>
        </p:txBody>
      </p:sp>
      <p:sp>
        <p:nvSpPr>
          <p:cNvPr id="8" name="Augmented RBF-SVM box 1"/>
          <p:cNvSpPr/>
          <p:nvPr/>
        </p:nvSpPr>
        <p:spPr>
          <a:xfrm>
            <a:off x="2880360" y="1325880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D6E6F5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ugmented RBF-SVM box 1 title"/>
          <p:cNvSpPr txBox="1"/>
          <p:nvPr/>
        </p:nvSpPr>
        <p:spPr>
          <a:xfrm>
            <a:off x="2953512" y="1380744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Input</a:t>
            </a:r>
          </a:p>
        </p:txBody>
      </p:sp>
      <p:sp>
        <p:nvSpPr>
          <p:cNvPr id="10" name="Augmented RBF-SVM box 1 text"/>
          <p:cNvSpPr txBox="1"/>
          <p:nvPr/>
        </p:nvSpPr>
        <p:spPr>
          <a:xfrm>
            <a:off x="2953512" y="1609344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1,658-pt spectrum after SG derivative + SNV</a:t>
            </a:r>
          </a:p>
        </p:txBody>
      </p:sp>
      <p:sp>
        <p:nvSpPr>
          <p:cNvPr id="11" name="Augmented RBF-SVM arrow 1"/>
          <p:cNvSpPr/>
          <p:nvPr/>
        </p:nvSpPr>
        <p:spPr>
          <a:xfrm>
            <a:off x="4920157" y="1600200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Augmented RBF-SVM box 2"/>
          <p:cNvSpPr/>
          <p:nvPr/>
        </p:nvSpPr>
        <p:spPr>
          <a:xfrm>
            <a:off x="5130469" y="1325880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D6E6F5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Augmented RBF-SVM box 2 title"/>
          <p:cNvSpPr txBox="1"/>
          <p:nvPr/>
        </p:nvSpPr>
        <p:spPr>
          <a:xfrm>
            <a:off x="5203621" y="1380744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RBF-kernel SVM</a:t>
            </a:r>
          </a:p>
        </p:txBody>
      </p:sp>
      <p:sp>
        <p:nvSpPr>
          <p:cNvPr id="14" name="Augmented RBF-SVM box 2 text"/>
          <p:cNvSpPr txBox="1"/>
          <p:nvPr/>
        </p:nvSpPr>
        <p:spPr>
          <a:xfrm>
            <a:off x="5203621" y="1609344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C = 1, γ = 1e-4; 260 support vectors (128 PE / 132 PP)</a:t>
            </a:r>
          </a:p>
        </p:txBody>
      </p:sp>
      <p:sp>
        <p:nvSpPr>
          <p:cNvPr id="15" name="Augmented RBF-SVM arrow 2"/>
          <p:cNvSpPr/>
          <p:nvPr/>
        </p:nvSpPr>
        <p:spPr>
          <a:xfrm>
            <a:off x="7170267" y="1600200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Augmented RBF-SVM box 3"/>
          <p:cNvSpPr/>
          <p:nvPr/>
        </p:nvSpPr>
        <p:spPr>
          <a:xfrm>
            <a:off x="7380579" y="1325880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D6E6F5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Augmented RBF-SVM box 3 title"/>
          <p:cNvSpPr txBox="1"/>
          <p:nvPr/>
        </p:nvSpPr>
        <p:spPr>
          <a:xfrm>
            <a:off x="7453731" y="1380744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Platt scaling</a:t>
            </a:r>
          </a:p>
        </p:txBody>
      </p:sp>
      <p:sp>
        <p:nvSpPr>
          <p:cNvPr id="18" name="Augmented RBF-SVM box 3 text"/>
          <p:cNvSpPr txBox="1"/>
          <p:nvPr/>
        </p:nvSpPr>
        <p:spPr>
          <a:xfrm>
            <a:off x="7453731" y="1609344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fitted on out-of-fold scores of original + degraded copies</a:t>
            </a:r>
          </a:p>
        </p:txBody>
      </p:sp>
      <p:sp>
        <p:nvSpPr>
          <p:cNvPr id="19" name="Augmented RBF-SVM arrow 3"/>
          <p:cNvSpPr/>
          <p:nvPr/>
        </p:nvSpPr>
        <p:spPr>
          <a:xfrm>
            <a:off x="9420377" y="1600200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Augmented RBF-SVM box 4"/>
          <p:cNvSpPr/>
          <p:nvPr/>
        </p:nvSpPr>
        <p:spPr>
          <a:xfrm>
            <a:off x="9630689" y="1325880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D6E6F5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Augmented RBF-SVM box 4 title"/>
          <p:cNvSpPr txBox="1"/>
          <p:nvPr/>
        </p:nvSpPr>
        <p:spPr>
          <a:xfrm>
            <a:off x="9703841" y="1380744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Output</a:t>
            </a:r>
          </a:p>
        </p:txBody>
      </p:sp>
      <p:sp>
        <p:nvSpPr>
          <p:cNvPr id="22" name="Augmented RBF-SVM box 4 text"/>
          <p:cNvSpPr txBox="1"/>
          <p:nvPr/>
        </p:nvSpPr>
        <p:spPr>
          <a:xfrm>
            <a:off x="9703841" y="1609344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P(PP), PE/PP call, quality status</a:t>
            </a:r>
          </a:p>
        </p:txBody>
      </p:sp>
      <p:sp>
        <p:nvSpPr>
          <p:cNvPr id="23" name="Linear baselines label box"/>
          <p:cNvSpPr/>
          <p:nvPr/>
        </p:nvSpPr>
        <p:spPr>
          <a:xfrm>
            <a:off x="548640" y="2176272"/>
            <a:ext cx="2194560" cy="7315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inear baselines label"/>
          <p:cNvSpPr txBox="1"/>
          <p:nvPr/>
        </p:nvSpPr>
        <p:spPr>
          <a:xfrm>
            <a:off x="658368" y="224027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Calibri"/>
              </a:rPr>
              <a:t>Linear baselines</a:t>
            </a:r>
          </a:p>
        </p:txBody>
      </p:sp>
      <p:sp>
        <p:nvSpPr>
          <p:cNvPr id="25" name="Linear baselines stats"/>
          <p:cNvSpPr txBox="1"/>
          <p:nvPr/>
        </p:nvSpPr>
        <p:spPr>
          <a:xfrm>
            <a:off x="658368" y="2542032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logistic regression · PLS-DA
1.1 ms · &lt; 0.2 MB</a:t>
            </a:r>
          </a:p>
        </p:txBody>
      </p:sp>
      <p:sp>
        <p:nvSpPr>
          <p:cNvPr id="26" name="Linear baselines box 1"/>
          <p:cNvSpPr/>
          <p:nvPr/>
        </p:nvSpPr>
        <p:spPr>
          <a:xfrm>
            <a:off x="2880360" y="2176272"/>
            <a:ext cx="276240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inear baselines box 1 title"/>
          <p:cNvSpPr txBox="1"/>
          <p:nvPr/>
        </p:nvSpPr>
        <p:spPr>
          <a:xfrm>
            <a:off x="2953512" y="2231136"/>
            <a:ext cx="26160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Input</a:t>
            </a:r>
          </a:p>
        </p:txBody>
      </p:sp>
      <p:sp>
        <p:nvSpPr>
          <p:cNvPr id="28" name="Linear baselines box 1 text"/>
          <p:cNvSpPr txBox="1"/>
          <p:nvPr/>
        </p:nvSpPr>
        <p:spPr>
          <a:xfrm>
            <a:off x="2953512" y="2459736"/>
            <a:ext cx="261609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SNV spectrum, standardised</a:t>
            </a:r>
          </a:p>
        </p:txBody>
      </p:sp>
      <p:sp>
        <p:nvSpPr>
          <p:cNvPr id="29" name="Linear baselines arrow 1"/>
          <p:cNvSpPr/>
          <p:nvPr/>
        </p:nvSpPr>
        <p:spPr>
          <a:xfrm>
            <a:off x="5670194" y="2450591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Linear baselines box 2"/>
          <p:cNvSpPr/>
          <p:nvPr/>
        </p:nvSpPr>
        <p:spPr>
          <a:xfrm>
            <a:off x="5880506" y="2176272"/>
            <a:ext cx="276240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inear baselines box 2 title"/>
          <p:cNvSpPr txBox="1"/>
          <p:nvPr/>
        </p:nvSpPr>
        <p:spPr>
          <a:xfrm>
            <a:off x="5953658" y="2231136"/>
            <a:ext cx="26160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Linear model</a:t>
            </a:r>
          </a:p>
        </p:txBody>
      </p:sp>
      <p:sp>
        <p:nvSpPr>
          <p:cNvPr id="32" name="Linear baselines box 2 text"/>
          <p:cNvSpPr txBox="1"/>
          <p:nvPr/>
        </p:nvSpPr>
        <p:spPr>
          <a:xfrm>
            <a:off x="5953658" y="2459736"/>
            <a:ext cx="261609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L2 logistic regression, or PLS-DA with 2–12 components</a:t>
            </a:r>
          </a:p>
        </p:txBody>
      </p:sp>
      <p:sp>
        <p:nvSpPr>
          <p:cNvPr id="33" name="Linear baselines arrow 2"/>
          <p:cNvSpPr/>
          <p:nvPr/>
        </p:nvSpPr>
        <p:spPr>
          <a:xfrm>
            <a:off x="8670340" y="2450591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Linear baselines box 3"/>
          <p:cNvSpPr/>
          <p:nvPr/>
        </p:nvSpPr>
        <p:spPr>
          <a:xfrm>
            <a:off x="8880652" y="2176272"/>
            <a:ext cx="276240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Linear baselines box 3 title"/>
          <p:cNvSpPr txBox="1"/>
          <p:nvPr/>
        </p:nvSpPr>
        <p:spPr>
          <a:xfrm>
            <a:off x="8953804" y="2231136"/>
            <a:ext cx="26160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Output</a:t>
            </a:r>
          </a:p>
        </p:txBody>
      </p:sp>
      <p:sp>
        <p:nvSpPr>
          <p:cNvPr id="36" name="Linear baselines box 3 text"/>
          <p:cNvSpPr txBox="1"/>
          <p:nvPr/>
        </p:nvSpPr>
        <p:spPr>
          <a:xfrm>
            <a:off x="8953804" y="2459736"/>
            <a:ext cx="2616098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P(PP) (PLS-DA: thresholded score)</a:t>
            </a:r>
          </a:p>
        </p:txBody>
      </p:sp>
      <p:sp>
        <p:nvSpPr>
          <p:cNvPr id="37" name="1-D CNN label box"/>
          <p:cNvSpPr/>
          <p:nvPr/>
        </p:nvSpPr>
        <p:spPr>
          <a:xfrm>
            <a:off x="548640" y="3026664"/>
            <a:ext cx="2194560" cy="7315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1-D CNN label"/>
          <p:cNvSpPr txBox="1"/>
          <p:nvPr/>
        </p:nvSpPr>
        <p:spPr>
          <a:xfrm>
            <a:off x="658368" y="3090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Calibri"/>
              </a:rPr>
              <a:t>1-D CNN</a:t>
            </a:r>
          </a:p>
        </p:txBody>
      </p:sp>
      <p:sp>
        <p:nvSpPr>
          <p:cNvPr id="39" name="1-D CNN stats"/>
          <p:cNvSpPr txBox="1"/>
          <p:nvPr/>
        </p:nvSpPr>
        <p:spPr>
          <a:xfrm>
            <a:off x="658368" y="3392424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23.6k params · 1.6 ms</a:t>
            </a:r>
          </a:p>
        </p:txBody>
      </p:sp>
      <p:sp>
        <p:nvSpPr>
          <p:cNvPr id="40" name="1-D CNN box 1"/>
          <p:cNvSpPr/>
          <p:nvPr/>
        </p:nvSpPr>
        <p:spPr>
          <a:xfrm>
            <a:off x="2880360" y="3026664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1-D CNN box 1 title"/>
          <p:cNvSpPr txBox="1"/>
          <p:nvPr/>
        </p:nvSpPr>
        <p:spPr>
          <a:xfrm>
            <a:off x="2953512" y="3081528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Input</a:t>
            </a:r>
          </a:p>
        </p:txBody>
      </p:sp>
      <p:sp>
        <p:nvSpPr>
          <p:cNvPr id="42" name="1-D CNN box 1 text"/>
          <p:cNvSpPr txBox="1"/>
          <p:nvPr/>
        </p:nvSpPr>
        <p:spPr>
          <a:xfrm>
            <a:off x="2953512" y="3310128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829 points</a:t>
            </a:r>
          </a:p>
        </p:txBody>
      </p:sp>
      <p:sp>
        <p:nvSpPr>
          <p:cNvPr id="43" name="1-D CNN arrow 1"/>
          <p:cNvSpPr/>
          <p:nvPr/>
        </p:nvSpPr>
        <p:spPr>
          <a:xfrm>
            <a:off x="4920157" y="3300984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1-D CNN box 2"/>
          <p:cNvSpPr/>
          <p:nvPr/>
        </p:nvSpPr>
        <p:spPr>
          <a:xfrm>
            <a:off x="5130469" y="3026664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1-D CNN box 2 title"/>
          <p:cNvSpPr txBox="1"/>
          <p:nvPr/>
        </p:nvSpPr>
        <p:spPr>
          <a:xfrm>
            <a:off x="5203621" y="3081528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3 × conv block</a:t>
            </a:r>
          </a:p>
        </p:txBody>
      </p:sp>
      <p:sp>
        <p:nvSpPr>
          <p:cNvPr id="46" name="1-D CNN box 2 text"/>
          <p:cNvSpPr txBox="1"/>
          <p:nvPr/>
        </p:nvSpPr>
        <p:spPr>
          <a:xfrm>
            <a:off x="5203621" y="3310128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Conv k = 9 + BN + GELU + MaxPool; 16 → 32 → 64 ch</a:t>
            </a:r>
          </a:p>
        </p:txBody>
      </p:sp>
      <p:sp>
        <p:nvSpPr>
          <p:cNvPr id="47" name="1-D CNN arrow 2"/>
          <p:cNvSpPr/>
          <p:nvPr/>
        </p:nvSpPr>
        <p:spPr>
          <a:xfrm>
            <a:off x="7170267" y="3300984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1-D CNN box 3"/>
          <p:cNvSpPr/>
          <p:nvPr/>
        </p:nvSpPr>
        <p:spPr>
          <a:xfrm>
            <a:off x="7380579" y="3026664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1-D CNN box 3 title"/>
          <p:cNvSpPr txBox="1"/>
          <p:nvPr/>
        </p:nvSpPr>
        <p:spPr>
          <a:xfrm>
            <a:off x="7453731" y="3081528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Global pooling</a:t>
            </a:r>
          </a:p>
        </p:txBody>
      </p:sp>
      <p:sp>
        <p:nvSpPr>
          <p:cNvPr id="50" name="1-D CNN box 3 text"/>
          <p:cNvSpPr txBox="1"/>
          <p:nvPr/>
        </p:nvSpPr>
        <p:spPr>
          <a:xfrm>
            <a:off x="7453731" y="3310128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mean ‖ max → 128-d vector</a:t>
            </a:r>
          </a:p>
        </p:txBody>
      </p:sp>
      <p:sp>
        <p:nvSpPr>
          <p:cNvPr id="51" name="1-D CNN arrow 3"/>
          <p:cNvSpPr/>
          <p:nvPr/>
        </p:nvSpPr>
        <p:spPr>
          <a:xfrm>
            <a:off x="9420377" y="3300984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1-D CNN box 4"/>
          <p:cNvSpPr/>
          <p:nvPr/>
        </p:nvSpPr>
        <p:spPr>
          <a:xfrm>
            <a:off x="9630689" y="3026664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1-D CNN box 4 title"/>
          <p:cNvSpPr txBox="1"/>
          <p:nvPr/>
        </p:nvSpPr>
        <p:spPr>
          <a:xfrm>
            <a:off x="9703841" y="3081528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Dropout + Linear</a:t>
            </a:r>
          </a:p>
        </p:txBody>
      </p:sp>
      <p:sp>
        <p:nvSpPr>
          <p:cNvPr id="54" name="1-D CNN box 4 text"/>
          <p:cNvSpPr txBox="1"/>
          <p:nvPr/>
        </p:nvSpPr>
        <p:spPr>
          <a:xfrm>
            <a:off x="9703841" y="3310128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→ P(PP)</a:t>
            </a:r>
          </a:p>
        </p:txBody>
      </p:sp>
      <p:sp>
        <p:nvSpPr>
          <p:cNvPr id="55" name="ResNet-1D label box"/>
          <p:cNvSpPr/>
          <p:nvPr/>
        </p:nvSpPr>
        <p:spPr>
          <a:xfrm>
            <a:off x="548640" y="3877056"/>
            <a:ext cx="2194560" cy="7315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sNet-1D label"/>
          <p:cNvSpPr txBox="1"/>
          <p:nvPr/>
        </p:nvSpPr>
        <p:spPr>
          <a:xfrm>
            <a:off x="658368" y="39410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Calibri"/>
              </a:rPr>
              <a:t>ResNet-1D</a:t>
            </a:r>
          </a:p>
        </p:txBody>
      </p:sp>
      <p:sp>
        <p:nvSpPr>
          <p:cNvPr id="57" name="ResNet-1D stats"/>
          <p:cNvSpPr txBox="1"/>
          <p:nvPr/>
        </p:nvSpPr>
        <p:spPr>
          <a:xfrm>
            <a:off x="658368" y="4242816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60.9k params · 1.8 ms</a:t>
            </a:r>
          </a:p>
        </p:txBody>
      </p:sp>
      <p:sp>
        <p:nvSpPr>
          <p:cNvPr id="58" name="ResNet-1D box 1"/>
          <p:cNvSpPr/>
          <p:nvPr/>
        </p:nvSpPr>
        <p:spPr>
          <a:xfrm>
            <a:off x="2880360" y="3877056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sNet-1D box 1 title"/>
          <p:cNvSpPr txBox="1"/>
          <p:nvPr/>
        </p:nvSpPr>
        <p:spPr>
          <a:xfrm>
            <a:off x="2953512" y="3931920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Input</a:t>
            </a:r>
          </a:p>
        </p:txBody>
      </p:sp>
      <p:sp>
        <p:nvSpPr>
          <p:cNvPr id="60" name="ResNet-1D box 1 text"/>
          <p:cNvSpPr txBox="1"/>
          <p:nvPr/>
        </p:nvSpPr>
        <p:spPr>
          <a:xfrm>
            <a:off x="2953512" y="4160520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829 points</a:t>
            </a:r>
          </a:p>
        </p:txBody>
      </p:sp>
      <p:sp>
        <p:nvSpPr>
          <p:cNvPr id="61" name="ResNet-1D arrow 1"/>
          <p:cNvSpPr/>
          <p:nvPr/>
        </p:nvSpPr>
        <p:spPr>
          <a:xfrm>
            <a:off x="4920157" y="4151376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sNet-1D box 2"/>
          <p:cNvSpPr/>
          <p:nvPr/>
        </p:nvSpPr>
        <p:spPr>
          <a:xfrm>
            <a:off x="5130469" y="3877056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sNet-1D box 2 title"/>
          <p:cNvSpPr txBox="1"/>
          <p:nvPr/>
        </p:nvSpPr>
        <p:spPr>
          <a:xfrm>
            <a:off x="5203621" y="3931920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Stem</a:t>
            </a:r>
          </a:p>
        </p:txBody>
      </p:sp>
      <p:sp>
        <p:nvSpPr>
          <p:cNvPr id="64" name="ResNet-1D box 2 text"/>
          <p:cNvSpPr txBox="1"/>
          <p:nvPr/>
        </p:nvSpPr>
        <p:spPr>
          <a:xfrm>
            <a:off x="5203621" y="4160520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Conv k = 15, stride 2, 16 ch</a:t>
            </a:r>
          </a:p>
        </p:txBody>
      </p:sp>
      <p:sp>
        <p:nvSpPr>
          <p:cNvPr id="65" name="ResNet-1D arrow 2"/>
          <p:cNvSpPr/>
          <p:nvPr/>
        </p:nvSpPr>
        <p:spPr>
          <a:xfrm>
            <a:off x="7170267" y="4151376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sNet-1D box 3"/>
          <p:cNvSpPr/>
          <p:nvPr/>
        </p:nvSpPr>
        <p:spPr>
          <a:xfrm>
            <a:off x="7380579" y="3877056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sNet-1D box 3 title"/>
          <p:cNvSpPr txBox="1"/>
          <p:nvPr/>
        </p:nvSpPr>
        <p:spPr>
          <a:xfrm>
            <a:off x="7453731" y="3931920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3 residual blocks</a:t>
            </a:r>
          </a:p>
        </p:txBody>
      </p:sp>
      <p:sp>
        <p:nvSpPr>
          <p:cNvPr id="68" name="ResNet-1D box 3 text"/>
          <p:cNvSpPr txBox="1"/>
          <p:nvPr/>
        </p:nvSpPr>
        <p:spPr>
          <a:xfrm>
            <a:off x="7453731" y="4160520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16 → 32 → 64 ch (stride 2), k = 7</a:t>
            </a:r>
          </a:p>
        </p:txBody>
      </p:sp>
      <p:sp>
        <p:nvSpPr>
          <p:cNvPr id="69" name="ResNet-1D arrow 3"/>
          <p:cNvSpPr/>
          <p:nvPr/>
        </p:nvSpPr>
        <p:spPr>
          <a:xfrm>
            <a:off x="9420377" y="4151376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sNet-1D box 4"/>
          <p:cNvSpPr/>
          <p:nvPr/>
        </p:nvSpPr>
        <p:spPr>
          <a:xfrm>
            <a:off x="9630689" y="3877056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sNet-1D box 4 title"/>
          <p:cNvSpPr txBox="1"/>
          <p:nvPr/>
        </p:nvSpPr>
        <p:spPr>
          <a:xfrm>
            <a:off x="9703841" y="3931920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Global avg pool</a:t>
            </a:r>
          </a:p>
        </p:txBody>
      </p:sp>
      <p:sp>
        <p:nvSpPr>
          <p:cNvPr id="72" name="ResNet-1D box 4 text"/>
          <p:cNvSpPr txBox="1"/>
          <p:nvPr/>
        </p:nvSpPr>
        <p:spPr>
          <a:xfrm>
            <a:off x="9703841" y="4160520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Dropout + Linear → P(PP)</a:t>
            </a:r>
          </a:p>
        </p:txBody>
      </p:sp>
      <p:sp>
        <p:nvSpPr>
          <p:cNvPr id="73" name="Transformer label box"/>
          <p:cNvSpPr/>
          <p:nvPr/>
        </p:nvSpPr>
        <p:spPr>
          <a:xfrm>
            <a:off x="548640" y="4727448"/>
            <a:ext cx="2194560" cy="7315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ransformer label"/>
          <p:cNvSpPr txBox="1"/>
          <p:nvPr/>
        </p:nvSpPr>
        <p:spPr>
          <a:xfrm>
            <a:off x="658368" y="47914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Calibri"/>
              </a:rPr>
              <a:t>Transformer</a:t>
            </a:r>
          </a:p>
        </p:txBody>
      </p:sp>
      <p:sp>
        <p:nvSpPr>
          <p:cNvPr id="75" name="Transformer stats"/>
          <p:cNvSpPr txBox="1"/>
          <p:nvPr/>
        </p:nvSpPr>
        <p:spPr>
          <a:xfrm>
            <a:off x="658368" y="5093208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ViT-style · 41.4k params · 1.5 ms</a:t>
            </a:r>
          </a:p>
        </p:txBody>
      </p:sp>
      <p:sp>
        <p:nvSpPr>
          <p:cNvPr id="76" name="Transformer box 1"/>
          <p:cNvSpPr/>
          <p:nvPr/>
        </p:nvSpPr>
        <p:spPr>
          <a:xfrm>
            <a:off x="2880360" y="4727448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ransformer box 1 title"/>
          <p:cNvSpPr txBox="1"/>
          <p:nvPr/>
        </p:nvSpPr>
        <p:spPr>
          <a:xfrm>
            <a:off x="2953512" y="4782312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Input</a:t>
            </a:r>
          </a:p>
        </p:txBody>
      </p:sp>
      <p:sp>
        <p:nvSpPr>
          <p:cNvPr id="78" name="Transformer box 1 text"/>
          <p:cNvSpPr txBox="1"/>
          <p:nvPr/>
        </p:nvSpPr>
        <p:spPr>
          <a:xfrm>
            <a:off x="2953512" y="5010912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829 points</a:t>
            </a:r>
          </a:p>
        </p:txBody>
      </p:sp>
      <p:sp>
        <p:nvSpPr>
          <p:cNvPr id="79" name="Transformer arrow 1"/>
          <p:cNvSpPr/>
          <p:nvPr/>
        </p:nvSpPr>
        <p:spPr>
          <a:xfrm>
            <a:off x="4920157" y="5001768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ransformer box 2"/>
          <p:cNvSpPr/>
          <p:nvPr/>
        </p:nvSpPr>
        <p:spPr>
          <a:xfrm>
            <a:off x="5130469" y="4727448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ransformer box 2 title"/>
          <p:cNvSpPr txBox="1"/>
          <p:nvPr/>
        </p:nvSpPr>
        <p:spPr>
          <a:xfrm>
            <a:off x="5203621" y="4782312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Patch embedding</a:t>
            </a:r>
          </a:p>
        </p:txBody>
      </p:sp>
      <p:sp>
        <p:nvSpPr>
          <p:cNvPr id="82" name="Transformer box 2 text"/>
          <p:cNvSpPr txBox="1"/>
          <p:nvPr/>
        </p:nvSpPr>
        <p:spPr>
          <a:xfrm>
            <a:off x="5203621" y="5010912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16-pt patches → 48-d, CLS token, position emb.</a:t>
            </a:r>
          </a:p>
        </p:txBody>
      </p:sp>
      <p:sp>
        <p:nvSpPr>
          <p:cNvPr id="83" name="Transformer arrow 2"/>
          <p:cNvSpPr/>
          <p:nvPr/>
        </p:nvSpPr>
        <p:spPr>
          <a:xfrm>
            <a:off x="7170267" y="5001768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ransformer box 3"/>
          <p:cNvSpPr/>
          <p:nvPr/>
        </p:nvSpPr>
        <p:spPr>
          <a:xfrm>
            <a:off x="7380579" y="4727448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ransformer box 3 title"/>
          <p:cNvSpPr txBox="1"/>
          <p:nvPr/>
        </p:nvSpPr>
        <p:spPr>
          <a:xfrm>
            <a:off x="7453731" y="4782312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2 × encoder layer</a:t>
            </a:r>
          </a:p>
        </p:txBody>
      </p:sp>
      <p:sp>
        <p:nvSpPr>
          <p:cNvPr id="86" name="Transformer box 3 text"/>
          <p:cNvSpPr txBox="1"/>
          <p:nvPr/>
        </p:nvSpPr>
        <p:spPr>
          <a:xfrm>
            <a:off x="7453731" y="5010912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4 heads, FFN 96, pre-norm</a:t>
            </a:r>
          </a:p>
        </p:txBody>
      </p:sp>
      <p:sp>
        <p:nvSpPr>
          <p:cNvPr id="87" name="Transformer arrow 3"/>
          <p:cNvSpPr/>
          <p:nvPr/>
        </p:nvSpPr>
        <p:spPr>
          <a:xfrm>
            <a:off x="9420377" y="5001768"/>
            <a:ext cx="182880" cy="182880"/>
          </a:xfrm>
          <a:prstGeom prst="rightArrow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ransformer box 4"/>
          <p:cNvSpPr/>
          <p:nvPr/>
        </p:nvSpPr>
        <p:spPr>
          <a:xfrm>
            <a:off x="9630689" y="4727448"/>
            <a:ext cx="201236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ransformer box 4 title"/>
          <p:cNvSpPr txBox="1"/>
          <p:nvPr/>
        </p:nvSpPr>
        <p:spPr>
          <a:xfrm>
            <a:off x="9703841" y="4782312"/>
            <a:ext cx="186606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0"/>
                </a:solidFill>
                <a:latin typeface="Calibri"/>
              </a:rPr>
              <a:t>CLS → LayerNorm</a:t>
            </a:r>
          </a:p>
        </p:txBody>
      </p:sp>
      <p:sp>
        <p:nvSpPr>
          <p:cNvPr id="90" name="Transformer box 4 text"/>
          <p:cNvSpPr txBox="1"/>
          <p:nvPr/>
        </p:nvSpPr>
        <p:spPr>
          <a:xfrm>
            <a:off x="9703841" y="5010912"/>
            <a:ext cx="1866061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Linear → P(PP)</a:t>
            </a:r>
          </a:p>
        </p:txBody>
      </p:sp>
      <p:sp>
        <p:nvSpPr>
          <p:cNvPr id="91" name="training caption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0"/>
                </a:solidFill>
                <a:latin typeface="Calibri"/>
              </a:rPr>
              <a:t>Training: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SVM and linear models on the preprocessed spectrum (SVM with 6 degraded copies per flake, ≈ 14 s incl. tuning). Deep nets: AdamW, one-cycle LR 2e-3, label smoothing 0.05, fresh augmentation every epoch, 60–80 epochs (≈ 13 s on CPU). </a:t>
            </a:r>
            <a:r>
              <a:rPr sz="1150" b="1" i="0">
                <a:solidFill>
                  <a:srgbClr val="1B2430"/>
                </a:solidFill>
                <a:latin typeface="Calibri"/>
              </a:rPr>
              <a:t>Why the SVM: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same accuracy as the deep nets, most robust to the stress tests, and no PyTorch needed at serving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We reused Aru's design ideas, not his code: what we kept, extended, changed and dropped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relation to Aru's code table"/>
          <p:cNvGraphicFramePr>
            <a:graphicFrameLocks noGrp="1"/>
          </p:cNvGraphicFramePr>
          <p:nvPr/>
        </p:nvGraphicFramePr>
        <p:xfrm>
          <a:off x="548640" y="132588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4297680"/>
                <a:gridCol w="1188720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 marT="27432" marB="27432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Aru's repository (HDPE/LDPE)</a:t>
                      </a:r>
                    </a:p>
                  </a:txBody>
                  <a:tcPr anchor="ctr" marL="91440" marR="91440" marT="27432" marB="27432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deployment (PP/PE)</a:t>
                      </a:r>
                    </a:p>
                  </a:txBody>
                  <a:tcPr anchor="ctr" marL="91440" marR="91440" marT="27432" marB="27432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91440" marR="91440" marT="27432" marB="27432">
                    <a:solidFill>
                      <a:srgbClr val="0F1B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Regression: HDPE % in HDPE/LDPE mixtures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Classification: PP vs PE with a probability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9620B"/>
                          </a:solidFill>
                          <a:latin typeface="Calibri"/>
                        </a:rPr>
                        <a:t>Changed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SNV → standard scaling; crop wavenumber range; keep every N-th point; fitted on training data only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Same ideas (SNV, crop to two windows, optional decimation, fit on train only) + Savitzky–Golay derivative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6F66"/>
                          </a:solidFill>
                          <a:latin typeface="Calibri"/>
                        </a:rPr>
                        <a:t>Kept + extended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PLSR, PCR, SVR, Ridge, Lasso, RF, GBRT with a small grid search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Same model-zoo + grid-search idea, as classifiers (PLS-DA, SVM, RF …) plus CNN / ResNet / Transformer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6F66"/>
                          </a:solidFill>
                          <a:latin typeface="Calibri"/>
                        </a:rPr>
                        <a:t>Kept + extended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Grouped CV (replicates of one sample stay together); tuning on the training split only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Kept; added leave-one-source-out, batch-shift and black-flake tests; groups = flake incl. its degraded copies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6F66"/>
                          </a:solidFill>
                          <a:latin typeface="Calibri"/>
                        </a:rPr>
                        <a:t>Kept + extended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Packaging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ModelBundle: model + preprocessing + metadata in one .joblib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One bundle: model + preprocessing + novelty detector + model card; plain importable classes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6F66"/>
                          </a:solidFill>
                          <a:latin typeface="Calibri"/>
                        </a:rPr>
                        <a:t>Kept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Late fusion: average of NIR and MIR models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Tested FTIR + colour (early and late): no gain, so not deployed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A5568"/>
                          </a:solidFill>
                          <a:latin typeface="Calibri"/>
                        </a:rPr>
                        <a:t>Tested</a:t>
                      </a:r>
                    </a:p>
                  </a:txBody>
                  <a:tcPr anchor="ctr" marL="91440" marR="91440" marT="27432" marB="27432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Not taken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Zero-pad / chop to force feature length; saved sampling step breaks --validate_only; HDPE-only target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430"/>
                          </a:solidFill>
                          <a:latin typeface="Calibri"/>
                        </a:rPr>
                        <a:t>Interpolate onto the fixed native grid; own implementation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8470A"/>
                          </a:solidFill>
                          <a:latin typeface="Calibri"/>
                        </a:rPr>
                        <a:t>Dropped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ru caption"/>
          <p:cNvSpPr txBox="1"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430"/>
                </a:solidFill>
                <a:latin typeface="Calibri"/>
              </a:rPr>
              <a:t>Aru's shipped model on our flakes: </a:t>
            </a:r>
            <a:r>
              <a:rPr sz="1200" b="0" i="0">
                <a:solidFill>
                  <a:srgbClr val="4A5568"/>
                </a:solidFill>
                <a:latin typeface="Calibri"/>
              </a:rPr>
              <a:t>run through his own code it gave outputs outside 0–100 % for every flake (AUC 0.998 as a ranking score), so it could not be reused as a classifier. Our code is written from scratch; nothing was copied.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Colour does not help: FTIR alone is near-perfect, colour alone does not transfer between batches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accuracy by input type chart"/>
          <p:cNvGraphicFramePr>
            <a:graphicFrameLocks noGrp="1"/>
          </p:cNvGraphicFramePr>
          <p:nvPr/>
        </p:nvGraphicFramePr>
        <p:xfrm>
          <a:off x="457200" y="1371600"/>
          <a:ext cx="758952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nclusion header"/>
          <p:cNvSpPr txBox="1"/>
          <p:nvPr/>
        </p:nvSpPr>
        <p:spPr>
          <a:xfrm>
            <a:off x="8366760" y="1417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</a:rPr>
              <a:t>What the figure shows</a:t>
            </a:r>
          </a:p>
        </p:txBody>
      </p:sp>
      <p:sp>
        <p:nvSpPr>
          <p:cNvPr id="7" name="stat 1"/>
          <p:cNvSpPr txBox="1"/>
          <p:nvPr/>
        </p:nvSpPr>
        <p:spPr>
          <a:xfrm>
            <a:off x="836676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6324F"/>
                </a:solidFill>
                <a:latin typeface="Cambria"/>
              </a:rPr>
              <a:t>98–100 %</a:t>
            </a:r>
          </a:p>
        </p:txBody>
      </p:sp>
      <p:sp>
        <p:nvSpPr>
          <p:cNvPr id="8" name="stat 1 text"/>
          <p:cNvSpPr txBox="1"/>
          <p:nvPr/>
        </p:nvSpPr>
        <p:spPr>
          <a:xfrm>
            <a:off x="8366760" y="22860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FTIR in all six tests, incl. 22/22 black flakes it never saw in training</a:t>
            </a:r>
          </a:p>
        </p:txBody>
      </p:sp>
      <p:sp>
        <p:nvSpPr>
          <p:cNvPr id="9" name="stat 2"/>
          <p:cNvSpPr txBox="1"/>
          <p:nvPr/>
        </p:nvSpPr>
        <p:spPr>
          <a:xfrm>
            <a:off x="8366760" y="29992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8C6D3F"/>
                </a:solidFill>
                <a:latin typeface="Cambria"/>
              </a:rPr>
              <a:t>10–43 %</a:t>
            </a:r>
          </a:p>
        </p:txBody>
      </p:sp>
      <p:sp>
        <p:nvSpPr>
          <p:cNvPr id="10" name="stat 2 text"/>
          <p:cNvSpPr txBox="1"/>
          <p:nvPr/>
        </p:nvSpPr>
        <p:spPr>
          <a:xfrm>
            <a:off x="8366760" y="345643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colour alone when trained on one batch family and tested on the other: below chance</a:t>
            </a:r>
          </a:p>
        </p:txBody>
      </p:sp>
      <p:sp>
        <p:nvSpPr>
          <p:cNvPr id="11" name="stat 3"/>
          <p:cNvSpPr txBox="1"/>
          <p:nvPr/>
        </p:nvSpPr>
        <p:spPr>
          <a:xfrm>
            <a:off x="8366760" y="416966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A9D8F"/>
                </a:solidFill>
                <a:latin typeface="Cambria"/>
              </a:rPr>
              <a:t>No gain</a:t>
            </a:r>
          </a:p>
        </p:txBody>
      </p:sp>
      <p:sp>
        <p:nvSpPr>
          <p:cNvPr id="12" name="stat 3 text"/>
          <p:cNvSpPr txBox="1"/>
          <p:nvPr/>
        </p:nvSpPr>
        <p:spPr>
          <a:xfrm>
            <a:off x="8366760" y="4626864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from fusion; it is slightly worse (95.6 % hold-out). The deployed model ignores colour</a:t>
            </a:r>
          </a:p>
        </p:txBody>
      </p:sp>
      <p:sp>
        <p:nvSpPr>
          <p:cNvPr id="13" name="caveat box"/>
          <p:cNvSpPr/>
          <p:nvPr/>
        </p:nvSpPr>
        <p:spPr>
          <a:xfrm>
            <a:off x="8229600" y="5440680"/>
            <a:ext cx="342900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caveat text"/>
          <p:cNvSpPr txBox="1"/>
          <p:nvPr/>
        </p:nvSpPr>
        <p:spPr>
          <a:xfrm>
            <a:off x="8366760" y="550468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0"/>
                </a:solidFill>
                <a:latin typeface="Calibri"/>
              </a:rPr>
              <a:t>Why: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colour mostly encodes the batch. All black PP is from Impact, all black PE from Circular 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The strong FTIR models tie on accuracy, so robustness and cost decide the choice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backbone comparison table"/>
          <p:cNvGraphicFramePr>
            <a:graphicFrameLocks noGrp="1"/>
          </p:cNvGraphicFramePr>
          <p:nvPr/>
        </p:nvGraphicFramePr>
        <p:xfrm>
          <a:off x="548640" y="1417320"/>
          <a:ext cx="758952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1188720"/>
                <a:gridCol w="1554480"/>
                <a:gridCol w="100584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91440" marR="9144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CV</a:t>
                      </a:r>
                    </a:p>
                  </a:txBody>
                  <a:tcPr anchor="ctr" marL="91440" marR="9144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anchor="ctr" marL="91440" marR="9144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Leave-source-out</a:t>
                      </a:r>
                    </a:p>
                  </a:txBody>
                  <a:tcPr anchor="ctr" marL="91440" marR="9144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 (ms)</a:t>
                      </a:r>
                    </a:p>
                  </a:txBody>
                  <a:tcPr anchor="ctr" marL="91440" marR="91440">
                    <a:solidFill>
                      <a:srgbClr val="0F1B2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PLS-DA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RBF-SVM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ExtraTrees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11.8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95.6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1-D CNN (augmented)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ResNet-1D (augmented)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Transformer (augmented)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97.8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anchor="ctr" marL="91440" marR="91440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Augmented RBF-SVM (deployed)</a:t>
                      </a:r>
                    </a:p>
                  </a:txBody>
                  <a:tcPr anchor="ctr" marL="91440" marR="91440"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99.4</a:t>
                      </a:r>
                    </a:p>
                  </a:txBody>
                  <a:tcPr anchor="ctr" marL="91440" marR="91440"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anchor="ctr" marL="91440" marR="91440">
                    <a:solidFill>
                      <a:srgbClr val="D6E6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i="1">
                          <a:solidFill>
                            <a:srgbClr val="6B5B45"/>
                          </a:solidFill>
                          <a:latin typeface="Calibri"/>
                        </a:rPr>
                        <a:t>Colour-only random forest</a:t>
                      </a:r>
                    </a:p>
                  </a:txBody>
                  <a:tcPr anchor="ctr" marL="91440" marR="91440">
                    <a:solidFill>
                      <a:srgbClr val="EF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5B45"/>
                          </a:solidFill>
                          <a:latin typeface="Calibri"/>
                        </a:rPr>
                        <a:t>74.6</a:t>
                      </a:r>
                    </a:p>
                  </a:txBody>
                  <a:tcPr anchor="ctr" marL="91440" marR="91440">
                    <a:solidFill>
                      <a:srgbClr val="EF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5B45"/>
                          </a:solidFill>
                          <a:latin typeface="Calibri"/>
                        </a:rPr>
                        <a:t>64.4</a:t>
                      </a:r>
                    </a:p>
                  </a:txBody>
                  <a:tcPr anchor="ctr" marL="91440" marR="91440">
                    <a:solidFill>
                      <a:srgbClr val="EF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5B45"/>
                          </a:solidFill>
                          <a:latin typeface="Calibri"/>
                        </a:rPr>
                        <a:t>73.0</a:t>
                      </a:r>
                    </a:p>
                  </a:txBody>
                  <a:tcPr anchor="ctr" marL="91440" marR="91440">
                    <a:solidFill>
                      <a:srgbClr val="EF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5B45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91440">
                    <a:solidFill>
                      <a:srgbClr val="EFE9E0"/>
                    </a:solidFill>
                  </a:tcPr>
                </a:tc>
              </a:tr>
            </a:tbl>
          </a:graphicData>
        </a:graphic>
      </p:graphicFrame>
      <p:sp>
        <p:nvSpPr>
          <p:cNvPr id="6" name="table note"/>
          <p:cNvSpPr txBox="1"/>
          <p:nvPr/>
        </p:nvSpPr>
        <p:spPr>
          <a:xfrm>
            <a:off x="548640" y="598932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Calibri"/>
              </a:rPr>
              <a:t>Accuracy in % (CV = repeated 5-fold), n = 178, hold-out n = 45. Time: one CPU thread, raw spectrum → probability. Augmented = trained with degraded copies.</a:t>
            </a:r>
          </a:p>
        </p:txBody>
      </p:sp>
      <p:sp>
        <p:nvSpPr>
          <p:cNvPr id="7" name="conclusion header"/>
          <p:cNvSpPr txBox="1"/>
          <p:nvPr/>
        </p:nvSpPr>
        <p:spPr>
          <a:xfrm>
            <a:off x="8412480" y="1417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</a:rPr>
              <a:t>What the table shows</a:t>
            </a:r>
          </a:p>
        </p:txBody>
      </p:sp>
      <p:sp>
        <p:nvSpPr>
          <p:cNvPr id="8" name="conclusions"/>
          <p:cNvSpPr txBox="1"/>
          <p:nvPr/>
        </p:nvSpPr>
        <p:spPr>
          <a:xfrm>
            <a:off x="8412480" y="1828800"/>
            <a:ext cx="3291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One error, every model: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C11_Exp_Bag_13_A4, labelled PP but spectrally a PE/PP blend.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Accuracy is saturated,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so backbone differences (±1 flake) are not meaningful. Boosted trees are weakest on 178 flakes.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Real-time is easy: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every model needs 1–2 ms (ExtraTrees 12 ms); the spectrometer, not the model, limits throughput.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So we chose by robustness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→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Training on degraded copies removes the weak spots; adding colour does not help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8</a:t>
            </a:r>
          </a:p>
        </p:txBody>
      </p:sp>
      <p:pic>
        <p:nvPicPr>
          <p:cNvPr id="5" name="robustness figure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3508174"/>
          </a:xfrm>
          <a:prstGeom prst="rect">
            <a:avLst/>
          </a:prstGeom>
        </p:spPr>
      </p:pic>
      <p:sp>
        <p:nvSpPr>
          <p:cNvPr id="6" name="takeaway 1 title"/>
          <p:cNvSpPr txBox="1"/>
          <p:nvPr/>
        </p:nvSpPr>
        <p:spPr>
          <a:xfrm>
            <a:off x="548640" y="493776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Without augmentation</a:t>
            </a:r>
          </a:p>
        </p:txBody>
      </p:sp>
      <p:sp>
        <p:nvSpPr>
          <p:cNvPr id="7" name="takeaway 1 text"/>
          <p:cNvSpPr txBox="1"/>
          <p:nvPr/>
        </p:nvSpPr>
        <p:spPr>
          <a:xfrm>
            <a:off x="548640" y="523036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RBF-SVM falls to 11 % under a ±8 cm⁻¹ wavenumber shift; logistic regression to 58 % at 20 % noise and 46 % at 32 cm⁻¹ blur.</a:t>
            </a:r>
          </a:p>
        </p:txBody>
      </p:sp>
      <p:sp>
        <p:nvSpPr>
          <p:cNvPr id="8" name="takeaway 2 title"/>
          <p:cNvSpPr txBox="1"/>
          <p:nvPr/>
        </p:nvSpPr>
        <p:spPr>
          <a:xfrm>
            <a:off x="4297679" y="493776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Deployed augmented model</a:t>
            </a:r>
          </a:p>
        </p:txBody>
      </p:sp>
      <p:sp>
        <p:nvSpPr>
          <p:cNvPr id="9" name="takeaway 2 text"/>
          <p:cNvSpPr txBox="1"/>
          <p:nvPr/>
        </p:nvSpPr>
        <p:spPr>
          <a:xfrm>
            <a:off x="4297679" y="523036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≥ 99 % up to 5 % noise, 98.9 % at 32 cm⁻¹ blur, 99.4 % at ±8 cm⁻¹ shift and with 50× less signal. 2 % noise ≈ 34× the measured detector noise.</a:t>
            </a:r>
          </a:p>
        </p:txBody>
      </p:sp>
      <p:sp>
        <p:nvSpPr>
          <p:cNvPr id="10" name="takeaway 3 title"/>
          <p:cNvSpPr txBox="1"/>
          <p:nvPr/>
        </p:nvSpPr>
        <p:spPr>
          <a:xfrm>
            <a:off x="8046719" y="493776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Colour fusion</a:t>
            </a:r>
          </a:p>
        </p:txBody>
      </p:sp>
      <p:sp>
        <p:nvSpPr>
          <p:cNvPr id="11" name="takeaway 3 text"/>
          <p:cNvSpPr txBox="1"/>
          <p:nvPr/>
        </p:nvSpPr>
        <p:spPr>
          <a:xfrm>
            <a:off x="8046719" y="523036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No benefit and slightly worse with noisy spectra (95 % vs 99 % at 10 % noise)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Is ~1 ms real-time? The classifier is not the limiting step; the measurement is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9</a:t>
            </a:r>
          </a:p>
        </p:txBody>
      </p:sp>
      <p:pic>
        <p:nvPicPr>
          <p:cNvPr id="5" name="time budget figure" descr="fig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589520" cy="3794760"/>
          </a:xfrm>
          <a:prstGeom prst="rect">
            <a:avLst/>
          </a:prstGeom>
        </p:spPr>
      </p:pic>
      <p:sp>
        <p:nvSpPr>
          <p:cNvPr id="6" name="conclusion header"/>
          <p:cNvSpPr txBox="1"/>
          <p:nvPr/>
        </p:nvSpPr>
        <p:spPr>
          <a:xfrm>
            <a:off x="8366760" y="1417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</a:rPr>
              <a:t>What the figure shows</a:t>
            </a:r>
          </a:p>
        </p:txBody>
      </p:sp>
      <p:sp>
        <p:nvSpPr>
          <p:cNvPr id="7" name="conclusions"/>
          <p:cNvSpPr txBox="1"/>
          <p:nvPr/>
        </p:nvSpPr>
        <p:spPr>
          <a:xfrm>
            <a:off x="8366760" y="182880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1.3 ms </a:t>
            </a:r>
            <a:r>
              <a:rPr sz="1250" b="0" i="0">
                <a:solidFill>
                  <a:srgbClr val="4A5568"/>
                </a:solidFill>
                <a:latin typeface="Calibri"/>
              </a:rPr>
              <a:t>for the whole model chain (crop, derivative, SNV, SVM) on one CPU thread, no GPU: ≈ 750 spectra/s per thread, ≈ 4,000/s in batch.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Reading the file </a:t>
            </a:r>
            <a:r>
              <a:rPr sz="1250" b="0" i="0">
                <a:solidFill>
                  <a:srgbClr val="4A5568"/>
                </a:solidFill>
                <a:latin typeface="Calibri"/>
              </a:rPr>
              <a:t>costs more than the model (1.4 ms native OPUS, 11.5 ms text .dpt); a whole web request is ≈ 10 ms.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A typical FTIR measurement </a:t>
            </a:r>
            <a:r>
              <a:rPr sz="1250" b="0" i="0">
                <a:solidFill>
                  <a:srgbClr val="4A5568"/>
                </a:solidFill>
                <a:latin typeface="Calibri"/>
              </a:rPr>
              <a:t>takes far longer (order 0.1–10 s, instrument-dependent, not measured here), so the model never makes the line wait.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A8470A"/>
                </a:solidFill>
                <a:latin typeface="Calibri"/>
              </a:rPr>
              <a:t>Still open: </a:t>
            </a:r>
            <a:r>
              <a:rPr sz="1250" b="0" i="0">
                <a:solidFill>
                  <a:srgbClr val="4A5568"/>
                </a:solidFill>
                <a:latin typeface="Calibri"/>
              </a:rPr>
              <a:t>whether this is fast enough for a sorting line depends on the target flakes/s and the spectrometer's scan time. We measured software only, not acquisition, transport or ejection.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B2430"/>
                </a:solidFill>
              </a:rPr>
              <a:t>Real time is not the bottleneck; the web service works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Calibri"/>
              </a:rPr>
              <a:t>10</a:t>
            </a:r>
          </a:p>
        </p:txBody>
      </p:sp>
      <p:sp>
        <p:nvSpPr>
          <p:cNvPr id="5" name="stat card 1"/>
          <p:cNvSpPr/>
          <p:nvPr/>
        </p:nvSpPr>
        <p:spPr>
          <a:xfrm>
            <a:off x="548640" y="137160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at 1"/>
          <p:cNvSpPr txBox="1"/>
          <p:nvPr/>
        </p:nvSpPr>
        <p:spPr>
          <a:xfrm>
            <a:off x="713232" y="15544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Cambria"/>
              </a:rPr>
              <a:t>1.3 ms</a:t>
            </a:r>
          </a:p>
        </p:txBody>
      </p:sp>
      <p:sp>
        <p:nvSpPr>
          <p:cNvPr id="7" name="stat 1 text"/>
          <p:cNvSpPr txBox="1"/>
          <p:nvPr/>
        </p:nvSpPr>
        <p:spPr>
          <a:xfrm>
            <a:off x="713232" y="21945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per spectrum, model only (one CPU thread; ≈ 4,000 per s in batch)</a:t>
            </a:r>
          </a:p>
        </p:txBody>
      </p:sp>
      <p:sp>
        <p:nvSpPr>
          <p:cNvPr id="8" name="stat card 2"/>
          <p:cNvSpPr/>
          <p:nvPr/>
        </p:nvSpPr>
        <p:spPr>
          <a:xfrm>
            <a:off x="2651760" y="137160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at 2"/>
          <p:cNvSpPr txBox="1"/>
          <p:nvPr/>
        </p:nvSpPr>
        <p:spPr>
          <a:xfrm>
            <a:off x="2816352" y="15544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Cambria"/>
              </a:rPr>
              <a:t>13 points</a:t>
            </a:r>
          </a:p>
        </p:txBody>
      </p:sp>
      <p:sp>
        <p:nvSpPr>
          <p:cNvPr id="10" name="stat 2 text"/>
          <p:cNvSpPr txBox="1"/>
          <p:nvPr/>
        </p:nvSpPr>
        <p:spPr>
          <a:xfrm>
            <a:off x="2816352" y="219456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of the C–H stretch band alone still give 99.4 % (leave-source-out)</a:t>
            </a:r>
          </a:p>
        </p:txBody>
      </p:sp>
      <p:sp>
        <p:nvSpPr>
          <p:cNvPr id="11" name="stat card 3"/>
          <p:cNvSpPr/>
          <p:nvPr/>
        </p:nvSpPr>
        <p:spPr>
          <a:xfrm>
            <a:off x="548640" y="361188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at 3"/>
          <p:cNvSpPr txBox="1"/>
          <p:nvPr/>
        </p:nvSpPr>
        <p:spPr>
          <a:xfrm>
            <a:off x="713232" y="3794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Cambria"/>
              </a:rPr>
              <a:t>8 flakes</a:t>
            </a:r>
          </a:p>
        </p:txBody>
      </p:sp>
      <p:sp>
        <p:nvSpPr>
          <p:cNvPr id="13" name="stat 3 text"/>
          <p:cNvSpPr txBox="1"/>
          <p:nvPr/>
        </p:nvSpPr>
        <p:spPr>
          <a:xfrm>
            <a:off x="713232" y="443484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are enough to reach ≈ 100 % on the hold-out (learning curve)</a:t>
            </a:r>
          </a:p>
        </p:txBody>
      </p:sp>
      <p:sp>
        <p:nvSpPr>
          <p:cNvPr id="14" name="stat card 4"/>
          <p:cNvSpPr/>
          <p:nvPr/>
        </p:nvSpPr>
        <p:spPr>
          <a:xfrm>
            <a:off x="2651760" y="361188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at 4"/>
          <p:cNvSpPr txBox="1"/>
          <p:nvPr/>
        </p:nvSpPr>
        <p:spPr>
          <a:xfrm>
            <a:off x="2816352" y="3794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Cambria"/>
              </a:rPr>
              <a:t>2 ratios</a:t>
            </a:r>
          </a:p>
        </p:txBody>
      </p:sp>
      <p:sp>
        <p:nvSpPr>
          <p:cNvPr id="16" name="stat 4 text"/>
          <p:cNvSpPr txBox="1"/>
          <p:nvPr/>
        </p:nvSpPr>
        <p:spPr>
          <a:xfrm>
            <a:off x="2816352" y="443484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A720/A1463 and A1376/A1463 give 99.4 %: an interpretable fallback</a:t>
            </a:r>
          </a:p>
        </p:txBody>
      </p:sp>
      <p:pic>
        <p:nvPicPr>
          <p:cNvPr id="17" name="web UI screenshot" descr="ui_black_flak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583680" cy="4286902"/>
          </a:xfrm>
          <a:prstGeom prst="rect">
            <a:avLst/>
          </a:prstGeom>
        </p:spPr>
      </p:pic>
      <p:sp>
        <p:nvSpPr>
          <p:cNvPr id="18" name="service caption"/>
          <p:cNvSpPr txBox="1"/>
          <p:nvPr/>
        </p:nvSpPr>
        <p:spPr>
          <a:xfrm>
            <a:off x="5074920" y="576072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2430"/>
                </a:solidFill>
                <a:latin typeface="Calibri"/>
              </a:rPr>
              <a:t>Web service: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drag-and-drop native Bruker .0, .dpt, .csv or .txt; batch upload and CSV export; probability, status and quality flags; </a:t>
            </a:r>
            <a:r>
              <a:rPr sz="1150" b="1" i="0">
                <a:solidFill>
                  <a:srgbClr val="1B2430"/>
                </a:solidFill>
                <a:latin typeface="Calibri"/>
              </a:rPr>
              <a:t>no login or HTTPS yet.</a:t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8A94A6"/>
                </a:solidFill>
                <a:latin typeface="Calibri"/>
              </a:rPr>
              <a:t>Shown: a black PP flake (Impact), classified PP with 100 % probability.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914400"/>
          </a:xfrm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4C6"/>
                </a:solidFill>
                <a:latin typeface="Calibri"/>
              </a:rPr>
              <a:t>Polyflow · PP/PE FTIR classification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9B4C6"/>
                </a:solidFill>
                <a:latin typeface="Calibri"/>
              </a:rPr>
              <a:t>11</a:t>
            </a:r>
          </a:p>
        </p:txBody>
      </p:sp>
      <p:sp>
        <p:nvSpPr>
          <p:cNvPr id="5" name="left header"/>
          <p:cNvSpPr txBox="1"/>
          <p:nvPr/>
        </p:nvSpPr>
        <p:spPr>
          <a:xfrm>
            <a:off x="548640" y="13716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FD1C7"/>
                </a:solidFill>
                <a:latin typeface="Calibri"/>
              </a:rPr>
              <a:t>What the evidence supports</a:t>
            </a:r>
          </a:p>
        </p:txBody>
      </p:sp>
      <p:sp>
        <p:nvSpPr>
          <p:cNvPr id="6" name="left bullets"/>
          <p:cNvSpPr txBox="1"/>
          <p:nvPr/>
        </p:nvSpPr>
        <p:spPr>
          <a:xfrm>
            <a:off x="548640" y="1828800"/>
            <a:ext cx="5349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FTIR alone separates PP from PE: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99.4 % CV, 45/45 hold-out, 99.4 % on unseen batches, 22/22 black flakes.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Colour adds nothing here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and mostly encodes the batch; the deployed model is FTIR-only.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Robust and fast: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augmented RBF-SVM tolerates noise, blur and ±8 cm⁻¹ shift at 1.3 ms per spectrum.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Delivered: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trained model, validation report, and a tested web service for single files and batches.</a:t>
            </a:r>
          </a:p>
        </p:txBody>
      </p:sp>
      <p:sp>
        <p:nvSpPr>
          <p:cNvPr id="7" name="right header"/>
          <p:cNvSpPr txBox="1"/>
          <p:nvPr/>
        </p:nvSpPr>
        <p:spPr>
          <a:xfrm>
            <a:off x="6309360" y="13716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B783"/>
                </a:solidFill>
                <a:latin typeface="Calibri"/>
              </a:rPr>
              <a:t>What it does not show yet</a:t>
            </a:r>
          </a:p>
        </p:txBody>
      </p:sp>
      <p:sp>
        <p:nvSpPr>
          <p:cNvPr id="8" name="right bullets"/>
          <p:cNvSpPr txBox="1"/>
          <p:nvPr/>
        </p:nvSpPr>
        <p:spPr>
          <a:xfrm>
            <a:off x="6309360" y="1828800"/>
            <a:ext cx="5349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Labels are library-derived: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‘verified’ equals the Polymerflow ID on every flake. Needs independent truth (DSC / TGA).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Small, easy dataset: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178 flakes, saturated accuracy. The 100 % hold-out is not a blind test; a new batch is.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Black polymers remain open: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need black PP and PE from the same batches and low-signal, carbon-black flakes.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Scope: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PE vs PP only. Other polymers and blends need a reject class; the Bopp shred is flagged ‘unreliable’.</a:t>
            </a:r>
          </a:p>
        </p:txBody>
      </p:sp>
      <p:sp>
        <p:nvSpPr>
          <p:cNvPr id="9" name="bottom line box"/>
          <p:cNvSpPr/>
          <p:nvPr/>
        </p:nvSpPr>
        <p:spPr>
          <a:xfrm>
            <a:off x="548640" y="557784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ottom line"/>
          <p:cNvSpPr txBox="1"/>
          <p:nvPr/>
        </p:nvSpPr>
        <p:spPr>
          <a:xfrm>
            <a:off x="777240" y="5577840"/>
            <a:ext cx="106372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FD1C7"/>
                </a:solidFill>
                <a:latin typeface="Calibri"/>
              </a:rPr>
              <a:t>Bottom line: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use the FTIR-only model now; validate it on an independent, harder batch (black, filled, blended) before relying on it for those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yflow PPPE">
  <a:themeElements>
    <a:clrScheme name="Office">
      <a:dk1>
        <a:srgbClr val="1B2430"/>
      </a:dk1>
      <a:lt1>
        <a:srgbClr val="FFFFFF"/>
      </a:lt1>
      <a:dk2>
        <a:srgbClr val="0F1B2D"/>
      </a:dk2>
      <a:lt2>
        <a:srgbClr val="F3F5F8"/>
      </a:lt2>
      <a:accent1>
        <a:srgbClr val="1F6FB5"/>
      </a:accent1>
      <a:accent2>
        <a:srgbClr val="D9620B"/>
      </a:accent2>
      <a:accent3>
        <a:srgbClr val="2A9D8F"/>
      </a:accent3>
      <a:accent4>
        <a:srgbClr val="16324F"/>
      </a:accent4>
      <a:accent5>
        <a:srgbClr val="8A94A6"/>
      </a:accent5>
      <a:accent6>
        <a:srgbClr val="C0392B"/>
      </a:accent6>
      <a:hlink>
        <a:srgbClr val="1F6FB5"/>
      </a:hlink>
      <a:folHlink>
        <a:srgbClr val="4A5568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